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041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flow left to right, then the four statutory estimates. Bracketed items (topic number, Phase I duration, demo installations, cost) need filling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hyperlink" Target="mailto:barasa@bluecredits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ltek.com/resources/articles/department-of-defense-data-centers/" TargetMode="External"/><Relationship Id="rId5" Type="http://schemas.openxmlformats.org/officeDocument/2006/relationships/hyperlink" Target="sam.gov/workspace/contract/opp/c0dd2474a2114d93a5e8ff14d3884270/view" TargetMode="External"/><Relationship Id="rId4" Type="http://schemas.openxmlformats.org/officeDocument/2006/relationships/hyperlink" Target="https://atlas.bluecredit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4819" y="4726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POC: </a:t>
            </a:r>
            <a:r>
              <a:rPr lang="en-US" sz="10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Nathan B. Wangusi, Ph.D., M.ASCE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464818" y="707021"/>
            <a:ext cx="48022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  <a:hlinkClick r:id="rId3"/>
              </a:rPr>
              <a:t>barasa@bluecredits.org</a:t>
            </a:r>
            <a:r>
              <a:rPr lang="en-US" sz="10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|407.414.2871|CAGE 17MA3|UEI KFH1PBB5TKD1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831839" y="359549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Department of War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510528" y="670445"/>
            <a:ext cx="5303520" cy="23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BlueCredit Atlas: Installation Water &amp; Energy Tool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081925"/>
            <a:ext cx="55778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081925"/>
            <a:ext cx="5577840" cy="347472"/>
          </a:xfrm>
          <a:prstGeom prst="rect">
            <a:avLst/>
          </a:prstGeom>
          <a:solidFill>
            <a:srgbClr val="EAF2FA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1081925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1584845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13816" y="1584845"/>
            <a:ext cx="106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Installation specs +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Atlas water data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929384" y="1722005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A6B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21408" y="1584845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157984" y="1584845"/>
            <a:ext cx="106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Normalize &amp;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basin-match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273552" y="1722005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A6B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65576" y="1584845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502152" y="1584845"/>
            <a:ext cx="106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Water-energy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estimation model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617720" y="1722005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A6B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9744" y="1584845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846320" y="1584845"/>
            <a:ext cx="1069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Atlas map &amp; reports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590682" y="2466114"/>
            <a:ext cx="3624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Produces the 4 estimates required by 10 U.S.C. § 4001 (National Defense Authorization Act FY26 § 1531)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97280" y="2785119"/>
            <a:ext cx="502920" cy="50292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097280" y="27851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731520" y="322299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Physical footprint</a:t>
            </a:r>
            <a:endParaRPr lang="en-US" sz="1000" b="1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41448" y="2785119"/>
            <a:ext cx="502920" cy="50292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2441448" y="27851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029968" y="327313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Water &amp; power use</a:t>
            </a:r>
            <a:endParaRPr lang="en-US" sz="1000" b="1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85616" y="2785119"/>
            <a:ext cx="502920" cy="50292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785616" y="27851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3438144" y="329908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Community effects</a:t>
            </a:r>
            <a:endParaRPr lang="en-US" sz="1000" b="1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129784" y="2785119"/>
            <a:ext cx="502920" cy="50292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5129784" y="27851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0C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764024" y="3324615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Utility-disruption</a:t>
            </a:r>
            <a:endParaRPr lang="en-US" sz="1000" b="1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09360" y="1081925"/>
            <a:ext cx="55778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1081925"/>
            <a:ext cx="5577840" cy="347472"/>
          </a:xfrm>
          <a:prstGeom prst="rect">
            <a:avLst/>
          </a:prstGeom>
          <a:solidFill>
            <a:srgbClr val="EAF2FA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492240" y="1081925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Benefits to the Warfighter &amp; Installations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446520" y="1528862"/>
            <a:ext cx="5367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Meets the new § 1531 requirement for every data center built or expanded on a military installation, with roadmaps due March 1, 2027, then every 3 years to 2033</a:t>
            </a:r>
            <a:endParaRPr lang="en-US" sz="95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Mission assurance: flags water and power supply risk to installation operations before siting and expansion decisions</a:t>
            </a:r>
            <a:endParaRPr lang="en-US" sz="95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Live in BlueCredit Atlas: FOIA data center water use; county industrial, agricultural and domestic demand; drought; live USGS stream levels and groundwater</a:t>
            </a:r>
            <a:endParaRPr lang="en-US" sz="95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 cost: first-pass estimates; outputs ready for USACE planning and NEPA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90620" y="2929359"/>
            <a:ext cx="5330952" cy="631971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613010" y="3187462"/>
            <a:ext cx="5102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Mission Demand  : </a:t>
            </a:r>
            <a:r>
              <a:rPr lang="en-US" sz="10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DAF is leasing land at 5 bases (Arnold, Edwards, JB McGuire-Dix-Lakehurst, Davis-Monthan, Robins) for private AI data centers (&gt;$500M, &gt;100 MW) under 10 U.S.C. § 2667 and EO 14318. BLM and DOE sites, such as Paducah, KY, are also under consideration.</a:t>
            </a:r>
            <a:r>
              <a:rPr lang="en-US" sz="1000" baseline="300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DOW has 3000 + data centers.</a:t>
            </a:r>
            <a:r>
              <a:rPr lang="en-US" sz="1000" baseline="300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000" b="1" baseline="30000" dirty="0">
                <a:solidFill>
                  <a:srgbClr val="0070C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1000" b="1" baseline="30000" dirty="0">
              <a:solidFill>
                <a:srgbClr val="0070C0"/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b="1" baseline="30000" dirty="0">
              <a:solidFill>
                <a:srgbClr val="0070C0"/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baseline="30000" dirty="0">
              <a:solidFill>
                <a:srgbClr val="0070C0"/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3727649"/>
            <a:ext cx="55778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3727649"/>
            <a:ext cx="5577840" cy="347472"/>
          </a:xfrm>
          <a:prstGeom prst="rect">
            <a:avLst/>
          </a:prstGeom>
          <a:solidFill>
            <a:srgbClr val="EAF2FA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731520" y="3727649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I / II / III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61416" y="4175705"/>
            <a:ext cx="548335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I:</a:t>
            </a:r>
            <a:endParaRPr lang="en-US" sz="1100" dirty="0">
              <a:latin typeface="Aptos" panose="020B00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Feasibility: adapt the estimation model to installation data center specs (cooling, IT load, climate, grid mix); validate against utility billing data; demonstrate on [1–5] representative installations in VA, WV and CA. </a:t>
            </a:r>
            <a:endParaRPr lang="en-US" sz="1100" dirty="0">
              <a:latin typeface="Aptos" panose="020B00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II: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Prototype the installation and community impact module in BlueCredit Atlas; pilot at partner installations; DoD-hosted deployment on AWS GovCloud with NIST SP 800-53 controls and an ATO path.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III: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Transition to installation and USACE planning programs; dual-use BlueCredit Atlas subscriptions for utilities, regulators and operators; scale to 20 states. </a:t>
            </a:r>
            <a:endParaRPr lang="en-US" sz="11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09360" y="3736275"/>
            <a:ext cx="55778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09360" y="3736275"/>
            <a:ext cx="5577840" cy="347472"/>
          </a:xfrm>
          <a:prstGeom prst="rect">
            <a:avLst/>
          </a:prstGeom>
          <a:solidFill>
            <a:srgbClr val="EAF2FA"/>
          </a:solidFill>
          <a:ln w="12700">
            <a:solidFill>
              <a:srgbClr val="B8C7D6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492240" y="3736275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Cost &amp; Schedule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6492240" y="4226171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[6]-month Phase I period of performance, 5 tasks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Low risk: BlueCredit Atlas and its data pipeline already operating</a:t>
            </a:r>
            <a:endParaRPr lang="en-US" sz="11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Phase I cost: $ 200,000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6492240" y="4906707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9144000" y="4906707"/>
            <a:ext cx="42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9570720" y="4906707"/>
            <a:ext cx="42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9997440" y="4906707"/>
            <a:ext cx="42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10424160" y="4906707"/>
            <a:ext cx="42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10850880" y="4906707"/>
            <a:ext cx="42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11277600" y="4906707"/>
            <a:ext cx="42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492240" y="5144451"/>
            <a:ext cx="521208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Text 53"/>
          <p:cNvSpPr txBox="1"/>
          <p:nvPr/>
        </p:nvSpPr>
        <p:spPr>
          <a:xfrm>
            <a:off x="6492240" y="5144451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 Requirements &amp; installation data inventory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62288" y="5181027"/>
            <a:ext cx="390144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492240" y="5354763"/>
            <a:ext cx="521208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6492240" y="5354763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 Records acquisition &amp; basin matching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162288" y="5391339"/>
            <a:ext cx="1243584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492240" y="5565075"/>
            <a:ext cx="521208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6492240" y="5565075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3. Water-energy estimation model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589008" y="5601651"/>
            <a:ext cx="1243584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492240" y="5775387"/>
            <a:ext cx="521208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6492240" y="5775387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4. Validation against utility data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0442448" y="5811963"/>
            <a:ext cx="816864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492240" y="5985699"/>
            <a:ext cx="5212080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6492240" y="5985699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7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5. Demo, final report, Phase II plan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0869168" y="6022275"/>
            <a:ext cx="816864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9" name="Text 67"/>
          <p:cNvSpPr txBox="1"/>
          <p:nvPr/>
        </p:nvSpPr>
        <p:spPr>
          <a:xfrm>
            <a:off x="555549" y="627649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400" b="1" dirty="0">
                <a:solidFill>
                  <a:srgbClr val="0070C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Credit</a:t>
            </a:r>
            <a:r>
              <a:rPr lang="en-US" sz="1400" b="1" dirty="0">
                <a:solidFill>
                  <a:srgbClr val="1F386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Atlas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572324" y="652493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BlueCredit Inc. platform  ·  </a:t>
            </a:r>
            <a:r>
              <a:rPr lang="en-US" sz="1000" dirty="0">
                <a:solidFill>
                  <a:srgbClr val="5A6B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  <a:hlinkClick r:id="rId4"/>
              </a:rPr>
              <a:t>atlas.bluecredits.org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73" name="Google Shape;22;p1">
            <a:extLst>
              <a:ext uri="{FF2B5EF4-FFF2-40B4-BE49-F238E27FC236}">
                <a16:creationId xmlns:a16="http://schemas.microsoft.com/office/drawing/2014/main" id="{9EF6A67D-5164-33C1-EDFC-85301FD8DC5D}"/>
              </a:ext>
            </a:extLst>
          </p:cNvPr>
          <p:cNvSpPr txBox="1"/>
          <p:nvPr/>
        </p:nvSpPr>
        <p:spPr>
          <a:xfrm>
            <a:off x="480904" y="421585"/>
            <a:ext cx="2057933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163"/>
              </a:buClr>
              <a:buSzPts val="7200"/>
              <a:buFont typeface="Twentieth Century"/>
              <a:buNone/>
            </a:pPr>
            <a:r>
              <a:rPr lang="en-US" sz="3300" b="1" i="0" u="none" strike="noStrike" cap="none" dirty="0">
                <a:solidFill>
                  <a:srgbClr val="124163"/>
                </a:solidFill>
                <a:latin typeface="Tw Cen MT" panose="020B0602020104020603" pitchFamily="34" charset="0"/>
                <a:ea typeface="Twentieth Century"/>
                <a:cs typeface="Twentieth Century"/>
                <a:sym typeface="Twentieth Century"/>
              </a:rPr>
              <a:t>Blue</a:t>
            </a:r>
            <a:r>
              <a:rPr lang="en-US" sz="3300" b="1" i="0" u="none" strike="noStrike" cap="none" dirty="0">
                <a:solidFill>
                  <a:srgbClr val="0070C0"/>
                </a:solidFill>
                <a:latin typeface="Tw Cen MT" panose="020B0602020104020603" pitchFamily="34" charset="0"/>
                <a:ea typeface="Twentieth Century"/>
                <a:cs typeface="Twentieth Century"/>
                <a:sym typeface="Twentieth Century"/>
              </a:rPr>
              <a:t>Credit</a:t>
            </a:r>
            <a:endParaRPr sz="3300" dirty="0">
              <a:solidFill>
                <a:schemeClr val="dk1"/>
              </a:solidFill>
              <a:latin typeface="Tw Cen MT" panose="020B0602020104020603" pitchFamily="34" charset="0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FF951A-5244-1CB9-6C43-EF618B2FDCDD}"/>
              </a:ext>
            </a:extLst>
          </p:cNvPr>
          <p:cNvSpPr txBox="1"/>
          <p:nvPr/>
        </p:nvSpPr>
        <p:spPr>
          <a:xfrm>
            <a:off x="7850038" y="6432538"/>
            <a:ext cx="4064593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aseline="30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100" baseline="30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hlinkClick r:id="rId5" action="ppaction://hlinkfile"/>
              </a:rPr>
              <a:t>sam.gov/workspace/contract/opp/c0dd2474a2114d93a5e8ff14d3884270/view </a:t>
            </a:r>
            <a:endParaRPr lang="en-US" sz="1100" baseline="30000" dirty="0"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aseline="30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00" baseline="300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  <a:hlinkClick r:id="rId6"/>
              </a:rPr>
              <a:t>https://www.deltek.com/resources/articles/department-of-defense-data-centers/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512</Words>
  <Application>Microsoft Office PowerPoint</Application>
  <PresentationFormat>Widescreen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Tw Cen MT</vt:lpstr>
      <vt:lpstr>Twentieth Century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 SBIR Quad Chart - Installation Data Center Water-Energy Impact Estimator</dc:title>
  <dc:subject>PptxGenJS Presentation</dc:subject>
  <dc:creator>PptxGenJS</dc:creator>
  <cp:lastModifiedBy>Nathan Wangusi</cp:lastModifiedBy>
  <cp:revision>8</cp:revision>
  <dcterms:created xsi:type="dcterms:W3CDTF">2026-09-23T19:32:42Z</dcterms:created>
  <dcterms:modified xsi:type="dcterms:W3CDTF">2026-09-24T10:40:33Z</dcterms:modified>
</cp:coreProperties>
</file>